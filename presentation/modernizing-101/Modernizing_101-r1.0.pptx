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101 — the ideas deck. It makes the conceptual case for modernizing a Django monolith into FastAPI services and explains the strangler-fig method that drives the migration, without going into async implementation detail; the full pattern set is the 201, and the async/FastAPI code deep dive is the 201-FastAPI. STUB: expand this script in the content-authoring wave.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STUB speaker notes. The agenda runs the three-act arc: Why &amp; How, The Migration, Operating &amp; Reflection. Expand with the full roadmap framing in the content-authoring wave.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STUB divider. Opens the why-modernize argument and introduces the strangler-fig method as the thing that makes changing a live system safe. Expand with the full arc in the content-authoring wave.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STUB speaker notes. This slide opens the why-modernize case; fill in during the content-authoring wave with the advantage-framed argument sourced from the authored chapters.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STUB speaker notes. This slide makes the restraint case; fill in during the content-authoring wave.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STUB speaker notes. Introduces the strangler-fig method as the safe alternative to a rewrite; fill in during the content-authoring wave.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STUB divider. Walks the migration as a set of ideas: proxy routing, finding seams, owning data, and coordinating across services. Expand with the full condensed arc in the content-authoring wave.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STUB speaker notes. Explains the proxy-routing mechanics at altitude, no code; fill in during the content-authoring wave.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STUB speaker notes. Introduces domain-driven seam-finding; fill in during the content-authoring wave.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STUB speaker notes. Introduces database-per-service as the hard part of decomposition; fill in during the content-authoring wave.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STUB speaker notes. Introduces the two coordination styles at altitude; fill in during the content-authoring wave.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STUB speaker notes. Introduces protocol fit across the service boundary; fill in during the content-authoring wave.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STUB speaker notes. Walks the cutover order and the reversibility guarantee; fill in during the content-authoring wave.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STUB divider. Covers the chassis, mesh, observability, the measurable supply-chain win, and the pattern-language retrospective. Expand with the full arc in the content-authoring wave.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STUB speaker notes. Introduces the chassis-as-convention idea; fill in during the content-authoring wave.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STUB speaker notes. Introduces the service mesh as an operating-model idea; fill in during the content-authoring wave.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STUB speaker notes. Shows the hero trace waterfall as proof of operability; fill in during the content-authoring wave.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STUB speaker notes. Makes the supply-chain case quantitatively; fill in during the content-authoring wave.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STUB speaker notes. Shows the end-state topology; fill in during the content-authoring wave.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STUB speaker notes. Introduces the pattern-language map as a navigation aid; fill in during the content-authoring wave.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STUB speaker notes. Walks the pattern scorecard at altitude; fill in during the content-authoring wave.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STUB speaker notes. Closes the reflection on service-count discipline; fill in during the content-authoring wave.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STUB speaker notes. Closing summary and hand-off to the 201 and 201-FastAPI; fill in during the content-authoring wave.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ssets/cover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0" y="1810512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EE0000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MODERNIZING ENTERPRISE APPLICATIONS (PYTHON) · 101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40680" y="2212848"/>
            <a:ext cx="6355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51515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Django to FastAPI,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151515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one seam at a time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5486400" y="4251960"/>
            <a:ext cx="6217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5A5A5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The case for modernizing a Django monolith into async FastAPI services, and the strangler-fig method that gets there without a rewrite.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835640" y="534924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r1.0</a:t>
            </a:r>
            <a:endParaRPr lang="en-US" sz="1100" dirty="0"/>
          </a:p>
        </p:txBody>
      </p:sp>
      <p:pic>
        <p:nvPicPr>
          <p:cNvPr id="7" name="Image 1" descr="./assets/logo-candidate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6217920"/>
            <a:ext cx="1417320" cy="3383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642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2</a:t>
            </a:r>
            <a:endParaRPr lang="en-US" sz="1000" dirty="0"/>
          </a:p>
        </p:txBody>
      </p:sp>
      <p:pic>
        <p:nvPicPr>
          <p:cNvPr id="3" name="Image 0" descr="./assets/logo-candidat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55080"/>
            <a:ext cx="1033272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EE0000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101 · THE IDEAS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66928" y="676656"/>
            <a:ext cx="110550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515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The whole argument, in one sitting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691640"/>
            <a:ext cx="548640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242424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TODO W2 — why modernize, and when to leave it alone</a:t>
            </a:r>
            <a:endParaRPr lang="en-US" sz="17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242424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TODO W2 — the strangler fig — grow the new around the old</a:t>
            </a:r>
            <a:endParaRPr lang="en-US" sz="17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242424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TODO W2 — finding the seams in the domain</a:t>
            </a:r>
            <a:endParaRPr lang="en-US" sz="17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242424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TODO W2 — data, ownership, and coordination as ideas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19088" y="1691640"/>
            <a:ext cx="548640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242424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TODO W2 — communication and contracts across the seam</a:t>
            </a:r>
            <a:endParaRPr lang="en-US" sz="17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242424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TODO W2 — operating the result: mesh, observability, supply chain</a:t>
            </a:r>
            <a:endParaRPr lang="en-US" sz="17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242424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TODO W2 — the modernization, made measurable</a:t>
            </a:r>
            <a:endParaRPr lang="en-US" sz="17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242424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TODO W2 — where to stop — and where to go next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A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ssets/section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33288" y="2121408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spc="600" kern="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705856" y="2596896"/>
            <a:ext cx="6126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Why, and How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733288" y="416052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D9D9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The case for change, and the method that makes it safe.</a:t>
            </a:r>
            <a:endParaRPr lang="en-US" sz="1600" dirty="0"/>
          </a:p>
        </p:txBody>
      </p:sp>
      <p:pic>
        <p:nvPicPr>
          <p:cNvPr id="6" name="Image 1" descr="./assets/redhat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6291072"/>
            <a:ext cx="1216152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642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4</a:t>
            </a:r>
            <a:endParaRPr lang="en-US" sz="1000" dirty="0"/>
          </a:p>
        </p:txBody>
      </p:sp>
      <p:pic>
        <p:nvPicPr>
          <p:cNvPr id="3" name="Image 0" descr="./assets/logo-candidat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55080"/>
            <a:ext cx="1033272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EE0000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WHY MODERNIZE · THE CASE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66928" y="676656"/>
            <a:ext cx="110550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515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Modernize because change got expensive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691640"/>
            <a:ext cx="11055096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242424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TODO W2 — the monolith holds the business value; every change is coupled to everything else.</a:t>
            </a:r>
            <a:endParaRPr lang="en-US" sz="170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242424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TODO W2 — the target is independent deployability, not a service count — lead with the advantage of shipping on an independent schedule.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642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5</a:t>
            </a:r>
            <a:endParaRPr lang="en-US" sz="1000" dirty="0"/>
          </a:p>
        </p:txBody>
      </p:sp>
      <p:pic>
        <p:nvPicPr>
          <p:cNvPr id="3" name="Image 0" descr="./assets/logo-candidat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55080"/>
            <a:ext cx="1033272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EE0000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WHY MODERNIZE · RESTRAINT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66928" y="676656"/>
            <a:ext cx="110550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515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And when not to modernize at all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691640"/>
            <a:ext cx="11055096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242424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TODO W2 — stable and low-value systems are cheapest left exactly as they are; encapsulate before you extract.</a:t>
            </a:r>
            <a:endParaRPr lang="en-US" sz="170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242424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TODO W2 — modernization is a means, not a virtue — the test is whether a real change gets safer or cheaper.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642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6</a:t>
            </a:r>
            <a:endParaRPr lang="en-US" sz="1000" dirty="0"/>
          </a:p>
        </p:txBody>
      </p:sp>
      <p:pic>
        <p:nvPicPr>
          <p:cNvPr id="3" name="Image 0" descr="./assets/logo-candidat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55080"/>
            <a:ext cx="1033272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EE0000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THE STRANGLER FIG · THE METHOD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66928" y="676656"/>
            <a:ext cx="110550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515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Grow the new system around the old</a:t>
            </a:r>
            <a:endParaRPr lang="en-US" sz="3000" dirty="0"/>
          </a:p>
        </p:txBody>
      </p:sp>
      <p:pic>
        <p:nvPicPr>
          <p:cNvPr id="6" name="Image 1" descr="./png/strangler-four-mov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45920" y="1600200"/>
            <a:ext cx="8906256" cy="4343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" y="5943600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TODO W2 caption — the four strangler moves, advantage-framed against a big-bang rewrite.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A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ssets/section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33288" y="2121408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spc="600" kern="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B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705856" y="2596896"/>
            <a:ext cx="6126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The Migration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733288" y="416052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D9D9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Grow the new system around the old, one seam at a time.</a:t>
            </a:r>
            <a:endParaRPr lang="en-US" sz="1600" dirty="0"/>
          </a:p>
        </p:txBody>
      </p:sp>
      <p:pic>
        <p:nvPicPr>
          <p:cNvPr id="6" name="Image 1" descr="./assets/redhat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6291072"/>
            <a:ext cx="1216152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642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8</a:t>
            </a:r>
            <a:endParaRPr lang="en-US" sz="1000" dirty="0"/>
          </a:p>
        </p:txBody>
      </p:sp>
      <p:pic>
        <p:nvPicPr>
          <p:cNvPr id="3" name="Image 0" descr="./assets/logo-candidat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55080"/>
            <a:ext cx="1033272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EE0000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THE STRANGLER FIG · PROXY ROUTING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66928" y="676656"/>
            <a:ext cx="110550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515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 proxy in front, one seam out at a time</a:t>
            </a:r>
            <a:endParaRPr lang="en-US" sz="3000" dirty="0"/>
          </a:p>
        </p:txBody>
      </p:sp>
      <p:pic>
        <p:nvPicPr>
          <p:cNvPr id="6" name="Image 1" descr="./png/strangler-proxy-routin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45920" y="1600200"/>
            <a:ext cx="8906256" cy="4343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" y="5943600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TODO W2 caption — the edge proxy routes by flag; every cutover is reversible.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642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9</a:t>
            </a:r>
            <a:endParaRPr lang="en-US" sz="1000" dirty="0"/>
          </a:p>
        </p:txBody>
      </p:sp>
      <p:pic>
        <p:nvPicPr>
          <p:cNvPr id="3" name="Image 0" descr="./assets/logo-candidat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55080"/>
            <a:ext cx="1033272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EE0000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FINDING THE SEAMS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66928" y="676656"/>
            <a:ext cx="110550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515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Seams are discovered, not invented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691640"/>
            <a:ext cx="11055096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242424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TODO W2 — event storming and DDD bounded contexts are how a seam is named before it is cut.</a:t>
            </a:r>
            <a:endParaRPr lang="en-US" sz="170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242424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TODO W2 — the service count follows the domain — six real bounded contexts, not a target number.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642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10</a:t>
            </a:r>
            <a:endParaRPr lang="en-US" sz="1000" dirty="0"/>
          </a:p>
        </p:txBody>
      </p:sp>
      <p:pic>
        <p:nvPicPr>
          <p:cNvPr id="3" name="Image 0" descr="./assets/logo-candidat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55080"/>
            <a:ext cx="1033272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EE0000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DATA ACROSS THE SEAM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66928" y="676656"/>
            <a:ext cx="110550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515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Lead with owned data, not the shared schema</a:t>
            </a:r>
            <a:endParaRPr lang="en-US" sz="3000" dirty="0"/>
          </a:p>
        </p:txBody>
      </p:sp>
      <p:pic>
        <p:nvPicPr>
          <p:cNvPr id="6" name="Image 1" descr="./png/shared-data-vs-owned-dat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45920" y="1600200"/>
            <a:ext cx="8906256" cy="4343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" y="5943600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TODO W2 caption — lead-new-thing-left: each FastAPI service owns its Postgres schema versus the monolith's shared tables.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642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11</a:t>
            </a:r>
            <a:endParaRPr lang="en-US" sz="1000" dirty="0"/>
          </a:p>
        </p:txBody>
      </p:sp>
      <p:pic>
        <p:nvPicPr>
          <p:cNvPr id="3" name="Image 0" descr="./assets/logo-candidat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55080"/>
            <a:ext cx="1033272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EE0000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COORDINATING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66928" y="676656"/>
            <a:ext cx="110550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515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Two ways to run a workflow across services</a:t>
            </a:r>
            <a:endParaRPr lang="en-US" sz="3000" dirty="0"/>
          </a:p>
        </p:txBody>
      </p:sp>
      <p:pic>
        <p:nvPicPr>
          <p:cNvPr id="6" name="Image 1" descr="./png/choreography-vs-orchestration-contras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45920" y="1600200"/>
            <a:ext cx="8906256" cy="4343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" y="5943600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TODO W2 caption — choreography and orchestration, same checkout; compensation, not rollback.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642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12</a:t>
            </a:r>
            <a:endParaRPr lang="en-US" sz="1000" dirty="0"/>
          </a:p>
        </p:txBody>
      </p:sp>
      <p:pic>
        <p:nvPicPr>
          <p:cNvPr id="3" name="Image 0" descr="./assets/logo-candidat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55080"/>
            <a:ext cx="1033272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EE0000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COMMUNICATION · PROTOCOL FIT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66928" y="676656"/>
            <a:ext cx="110550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515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REST, gRPC, and GraphQL each earn their seam</a:t>
            </a:r>
            <a:endParaRPr lang="en-US" sz="3000" dirty="0"/>
          </a:p>
        </p:txBody>
      </p:sp>
      <p:pic>
        <p:nvPicPr>
          <p:cNvPr id="6" name="Image 1" descr="./png/rest-grpc-graphql-protocol-fi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45920" y="1600200"/>
            <a:ext cx="8906256" cy="4343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" y="5943600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TODO W2 caption — pick the protocol by the shape of the call, not by habit.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642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13</a:t>
            </a:r>
            <a:endParaRPr lang="en-US" sz="1000" dirty="0"/>
          </a:p>
        </p:txBody>
      </p:sp>
      <p:pic>
        <p:nvPicPr>
          <p:cNvPr id="3" name="Image 0" descr="./assets/logo-candidat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55080"/>
            <a:ext cx="1033272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EE0000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THE CUTOVER TIMELINE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66928" y="676656"/>
            <a:ext cx="110550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515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Six seams, in dependency order</a:t>
            </a:r>
            <a:endParaRPr lang="en-US" sz="3000" dirty="0"/>
          </a:p>
        </p:txBody>
      </p:sp>
      <p:pic>
        <p:nvPicPr>
          <p:cNvPr id="6" name="Image 1" descr="./png/strangler-cutover-timelin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45920" y="1600200"/>
            <a:ext cx="8906256" cy="4343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" y="5943600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TODO W2 caption — each cutover stays behind the equivalence gate until the old module is retired.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A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ssets/section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33288" y="2121408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spc="600" kern="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705856" y="2596896"/>
            <a:ext cx="6126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Operating &amp; Reflection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733288" y="416052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D9D9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Run the result, measure the win, and know when to stop.</a:t>
            </a:r>
            <a:endParaRPr lang="en-US" sz="1600" dirty="0"/>
          </a:p>
        </p:txBody>
      </p:sp>
      <p:pic>
        <p:nvPicPr>
          <p:cNvPr id="6" name="Image 1" descr="./assets/redhat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6291072"/>
            <a:ext cx="1216152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642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15</a:t>
            </a:r>
            <a:endParaRPr lang="en-US" sz="1000" dirty="0"/>
          </a:p>
        </p:txBody>
      </p:sp>
      <p:pic>
        <p:nvPicPr>
          <p:cNvPr id="3" name="Image 0" descr="./assets/logo-candidat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55080"/>
            <a:ext cx="1033272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EE0000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THE CHASSIS AS CONVENTION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66928" y="676656"/>
            <a:ext cx="110550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515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The chassis is a convention, not a framework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691640"/>
            <a:ext cx="11055096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242424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TODO W2 — config, health, logging, and OTel as a shared FastAPI convention across services, not a shared library to maintain.</a:t>
            </a:r>
            <a:endParaRPr lang="en-US" sz="170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242424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TODO W2 — the platform answers the operational questions — identity, traffic, discovery — from Kubernetes and the mesh.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642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16</a:t>
            </a:r>
            <a:endParaRPr lang="en-US" sz="1000" dirty="0"/>
          </a:p>
        </p:txBody>
      </p:sp>
      <p:pic>
        <p:nvPicPr>
          <p:cNvPr id="3" name="Image 0" descr="./assets/logo-candidat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55080"/>
            <a:ext cx="1033272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EE0000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OPERATING · THE MESH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66928" y="676656"/>
            <a:ext cx="110550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515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mTLS and traffic identity, once services own their data</a:t>
            </a:r>
            <a:endParaRPr lang="en-US" sz="3000" dirty="0"/>
          </a:p>
        </p:txBody>
      </p:sp>
      <p:pic>
        <p:nvPicPr>
          <p:cNvPr id="6" name="Image 1" descr="./png/mesh-mtls-topolog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45920" y="1600200"/>
            <a:ext cx="8906256" cy="4343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" y="5943600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TODO W2 caption — the mesh gives every service an identity and encrypted traffic without application code.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642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17</a:t>
            </a:r>
            <a:endParaRPr lang="en-US" sz="1000" dirty="0"/>
          </a:p>
        </p:txBody>
      </p:sp>
      <p:pic>
        <p:nvPicPr>
          <p:cNvPr id="3" name="Image 0" descr="./assets/logo-candidat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55080"/>
            <a:ext cx="1033272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EE0000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OPERATING · THE TRACE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66928" y="676656"/>
            <a:ext cx="110550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515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One request, traced end to end</a:t>
            </a:r>
            <a:endParaRPr lang="en-US" sz="3000" dirty="0"/>
          </a:p>
        </p:txBody>
      </p:sp>
      <p:pic>
        <p:nvPicPr>
          <p:cNvPr id="6" name="Image 1" descr="./png/mesh-hero-trace-waterfal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45920" y="1600200"/>
            <a:ext cx="8906256" cy="4343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" y="5943600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TODO W2 caption — the migration did not lose observability; it gained a trace across six services.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642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18</a:t>
            </a:r>
            <a:endParaRPr lang="en-US" sz="1000" dirty="0"/>
          </a:p>
        </p:txBody>
      </p:sp>
      <p:pic>
        <p:nvPicPr>
          <p:cNvPr id="3" name="Image 0" descr="./assets/logo-candidat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55080"/>
            <a:ext cx="1033272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EE0000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THE MEASURABLE WIN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66928" y="676656"/>
            <a:ext cx="110550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515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The modernization, made measurable</a:t>
            </a:r>
            <a:endParaRPr lang="en-US" sz="3000" dirty="0"/>
          </a:p>
        </p:txBody>
      </p:sp>
      <p:pic>
        <p:nvPicPr>
          <p:cNvPr id="6" name="Image 1" descr="./png/supply-chain-gate-pipelin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45920" y="1600200"/>
            <a:ext cx="8906256" cy="4343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" y="5943600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TODO W2 caption — SBOM, scan, gate — the monolith fails it; the modernized service passes clean.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642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19</a:t>
            </a:r>
            <a:endParaRPr lang="en-US" sz="1000" dirty="0"/>
          </a:p>
        </p:txBody>
      </p:sp>
      <p:pic>
        <p:nvPicPr>
          <p:cNvPr id="3" name="Image 0" descr="./assets/logo-candidat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55080"/>
            <a:ext cx="1033272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EE0000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THE RESULT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66928" y="676656"/>
            <a:ext cx="110550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515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One monolith, six independent services</a:t>
            </a:r>
            <a:endParaRPr lang="en-US" sz="3000" dirty="0"/>
          </a:p>
        </p:txBody>
      </p:sp>
      <p:pic>
        <p:nvPicPr>
          <p:cNvPr id="6" name="Image 1" descr="./png/final-monolith-free-topolog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45920" y="1600200"/>
            <a:ext cx="8906256" cy="4343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" y="5943600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TODO W2 caption — the final topology: the monolith is gone; each service owns its data.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642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20</a:t>
            </a:r>
            <a:endParaRPr lang="en-US" sz="1000" dirty="0"/>
          </a:p>
        </p:txBody>
      </p:sp>
      <p:pic>
        <p:nvPicPr>
          <p:cNvPr id="3" name="Image 0" descr="./assets/logo-candidat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55080"/>
            <a:ext cx="1033272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EE0000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REFLECTION · THE PATTERN MAP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66928" y="676656"/>
            <a:ext cx="110550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515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Where each pattern lives in the language</a:t>
            </a:r>
            <a:endParaRPr lang="en-US" sz="3000" dirty="0"/>
          </a:p>
        </p:txBody>
      </p:sp>
      <p:pic>
        <p:nvPicPr>
          <p:cNvPr id="6" name="Image 1" descr="./png/pattern-language-ma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45920" y="1600200"/>
            <a:ext cx="8906256" cy="4343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" y="5943600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TODO W2 caption — cross-reference by concept to the 201's deep sections.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642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21</a:t>
            </a:r>
            <a:endParaRPr lang="en-US" sz="1000" dirty="0"/>
          </a:p>
        </p:txBody>
      </p:sp>
      <p:pic>
        <p:nvPicPr>
          <p:cNvPr id="3" name="Image 0" descr="./assets/logo-candidat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55080"/>
            <a:ext cx="1033272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EE0000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REFLECTION · THE SCORECARD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66928" y="676656"/>
            <a:ext cx="110550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515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 pattern belongs when it cures a pain you have</a:t>
            </a:r>
            <a:endParaRPr lang="en-US" sz="3000" dirty="0"/>
          </a:p>
        </p:txBody>
      </p:sp>
      <p:pic>
        <p:nvPicPr>
          <p:cNvPr id="6" name="Image 1" descr="./png/book-pattern-scorecar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45920" y="1600200"/>
            <a:ext cx="8906256" cy="4343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" y="5943600"/>
            <a:ext cx="11055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TODO W2 caption — used versus deferred; deferred is a verdict too.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642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22</a:t>
            </a:r>
            <a:endParaRPr lang="en-US" sz="1000" dirty="0"/>
          </a:p>
        </p:txBody>
      </p:sp>
      <p:pic>
        <p:nvPicPr>
          <p:cNvPr id="3" name="Image 0" descr="./assets/logo-candidat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55080"/>
            <a:ext cx="1033272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EE0000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REFLECTION · WHERE TO STOP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66928" y="676656"/>
            <a:ext cx="110550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515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Over-decomposition is the seductive failure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691640"/>
            <a:ext cx="11055096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242424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TODO W2 — the tell is a coordinated release; stop at context-aligned services.</a:t>
            </a:r>
            <a:endParaRPr lang="en-US" sz="170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242424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TODO W2 — nanoservice sprawl is a distributed monolith — all the coupling, plus a network.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642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23</a:t>
            </a:r>
            <a:endParaRPr lang="en-US" sz="1000" dirty="0"/>
          </a:p>
        </p:txBody>
      </p:sp>
      <p:pic>
        <p:nvPicPr>
          <p:cNvPr id="3" name="Image 0" descr="./assets/logo-candidat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55080"/>
            <a:ext cx="1033272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EE0000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101 · CLOSE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66928" y="676656"/>
            <a:ext cx="110550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515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One monolith, six services, a method that verifies itself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691640"/>
            <a:ext cx="11055096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242424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TODO W2 — the claim held: a coupled Django monolith became six FastAPI services that own their data and coordinate without a conductor.</a:t>
            </a:r>
            <a:endParaRPr lang="en-US" sz="170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242424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TODO W2 — for the running system and the full pattern set, see the 201; for the async code deep dive, see the 201-FastAPI.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Red Hat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Modernizing Enterprise Applications (Python) — 101 (the ideas)</dc:title>
  <dc:subject>PptxGenJS Presentation</dc:subject>
  <dc:creator>Robert Sedor</dc:creator>
  <cp:lastModifiedBy>Robert Sedor</cp:lastModifiedBy>
  <cp:revision>1</cp:revision>
  <dcterms:created xsi:type="dcterms:W3CDTF">2026-10-17T14:41:36Z</dcterms:created>
  <dcterms:modified xsi:type="dcterms:W3CDTF">2026-10-17T14:41:36Z</dcterms:modified>
</cp:coreProperties>
</file>