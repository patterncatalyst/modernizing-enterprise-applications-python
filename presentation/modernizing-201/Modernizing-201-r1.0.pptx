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</p:sldIdLst>
  <p:notesMasterIdLst>
    <p:notesMasterId r:id="rId8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notesMaster" Target="notesMasters/notesMaster1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201 — the patterns deck, for engineers and architects implementing the migration. It walks the full pattern set at just-enough-code depth; the deep async/FastAPI mechanics live in the 201-FastAPI companion. MAIN body is capped near 50 slides with overflow material (extended per-pattern variants, the full figure set, the OpenShift/CRC parity appendix) pushed into appendices. STUB: expand this script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Agenda mirrors the ten-section main body plus the appendix;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Opens with why-modernize and the restraint case. Expand with the full section arc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Opens the why-modernize case for an implementer audience;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Makes the restraint case before the deep dive begins;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Introduces the AI Development Lifecycle and the behaviour-equivalence gate that makes every cutover reviewable.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ADLC reassignment of roles;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Walks the ADLC loop phase by phase;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real pytest suite that gates every cutover; real test excerpts land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Introduces the Django reference monolith this whole migration starts from.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monolith's shared-schema starting point;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Walks the smell-to-pattern mapping; fill in during the content-authoring wave, consider addStatusTable.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Introduces domain-driven seam-finding as the technique that precedes every extraction.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event storming as the seam-finding technique;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seam-finding section;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Walks the strangler-fig mechanics this migration actually used.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four-move strangler method;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Pairs with the proxy implementation in examples/01-strangler-proxy;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anti-corruption-layer pattern at the seam;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event-driven extraction via the notification service;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Walks database-per-service, the outbox, CDC as a bridge, CQRS, and ACID-to-ACD.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database-per-service;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outbox-write pattern at concept depth; the async mechanics live in 201-FastAPI.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Just-enough code for the relay; the asyncio-task mechanics are the 201-FastAPI's job.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CDC as a temporary migration aid;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CQRS at concept depth;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data section with the ACID-to-ACD framing;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Walks choreographed and orchestrated sagas, plus idempotent compensation.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two coordination styles;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Just-enough code for the choreographed path; full async mechanics live in 201-FastAPI.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Just-enough code for the orchestrated path;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idempotent-consumer dedupe;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coordination section with compensation mechanics;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Walks protocol fit, contract enforcement, and the FastAPI chassis.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protocol selection across the service boundary;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Just-enough code for the gRPC contract; the grpc.aio mechanics live in 201-FastAPI.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Just-enough code for the GraphQL gateway;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schema-registry pattern;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chassis section; the deep chassis code lives in 201-FastAPI.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Walks deployment topology, the mesh, observability, and the supply-chain gate.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Kubernetes deployment topology;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service mesh's operational role;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Shows the end-to-end trace waterfall;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Just-enough code for the supply-chain gate, with the real evidence numbers;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operating section with the end-state topology;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divider. Closes the main body with the pattern-language retrospective.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Introduces the pattern-language map as a navigation aid;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Walks the pattern scorecard;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main body on service-count discipline;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Closes the MAIN body and hands off to the appendix and the 201-FastAPI;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appendix divider. OpenShift/CRC parity material: topology, image delivery, mesh mTLS edge.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OpenShift/CRC topology parity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OpenShift image-delivery parity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OpenShift mesh-mTLS parity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appendix divider. Houses every diagram from the house set not already used in the MAIN body, for completeness and deeper per-pattern variants.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saga-resilience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chassis-adoption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resilience-chassis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schema-registry evolution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contract variant for the sync/async seam;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Before/after registry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section-08 gRPC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section-08 GraphQL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multi-service outbox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notification-routing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section-07 choreography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section-07 orchestration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data-ownership variant for order items;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order-lifecycle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order-lifecycle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CQRS-projection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section-06 outbox-relay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lighter-weight saga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phased-extraction variant for the review service;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101's cutover-timeline slide, at implementer depth;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Visual companion to the section-09 supply-chain code slide;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Extended cutover-risk variant;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appendix divider. Reference material for follow-along: the examples/ map, stack versions, and a glossary. Expand in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Lists the examples/ directory map; fill in during the content-authoring wave, consider addStatusTable.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Lists stack and version pins;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Closing glossary;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STUB speaker notes. Final closing slide of the appendix; fill in during the content-authoring wave.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cover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181051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MODERNIZING ENTERPRISE APPLICATIONS (PYTHON) · 201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40680" y="2212848"/>
            <a:ext cx="63550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patterns,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end to end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5486400" y="4251960"/>
            <a:ext cx="6217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full technical pattern set behind the Django-to-FastAPI migration: seams, data ownership, coordination, contracts, and operating the result.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835640" y="534924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r1.0</a:t>
            </a:r>
            <a:endParaRPr lang="en-US" sz="1100" dirty="0"/>
          </a:p>
        </p:txBody>
      </p:sp>
      <p:pic>
        <p:nvPicPr>
          <p:cNvPr id="7" name="Image 1" descr="./assets/logo-candidat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6217920"/>
            <a:ext cx="1417320" cy="338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201 · THE PATTERNS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implementation, one section per part — plus an appendix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why modernize, and the ADLC equivalence gate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reference monolith and its smells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finding the seams (DDD)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strangler fig: proxy, ACL, event-driven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data across the seam: owned data, outbox, CQRS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419088" y="1691640"/>
            <a:ext cx="5486400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coordinating: choreographed + orchestrated sagas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communication, contracts, and the chassis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operating and delivering the result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pattern language, revisited</a:t>
            </a:r>
            <a:endParaRPr lang="en-US" sz="1700" dirty="0"/>
          </a:p>
          <a:p>
            <a:pPr algn="l"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appendix: OpenShift/CRC parity + extended figures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 Modernize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case for change, and the discipline to leave most of it alone.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 MODERNIZE · THE CASE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Modernize because change got expensive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Django monolith holds the business value; every change is coupled to everything else.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target is independent deployability, not a service count.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WHY MODERNIZE · RESTRAINT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And when not to modernize at all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stable, low-value contexts are cheapest left alone; encapsulate before you extract.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test is whether a specific change gets safer or cheaper — never whether it looks more modern.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02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ADLC + the Equivalence Gate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lifecycle — and the automated check — that make agent-driven change safe.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ADLC · FROM SDLC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human moves up a level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agent authors the change; the human frames the seam, sets the acceptance bar, and gates the merge.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method is built around an automated gate, not around trust in the model's output.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ADLC · THE LOOP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Frame, Plan, Generate, Verify, Reconcile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five-phase loop runs once per seam; Verify is the gate the other four phases exist to make meaningful.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Reconcile records what was claimed against what actually ran, increment by increment.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ADLC · THE EQUIVALENCE GATE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behaviour-equivalence suite pins observable behaviour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pytest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examples/00-monolith/tests/test_checkout.py + test_smoke.py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equivalence suite that must stay green across every seam cutover, old position and new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equivalence suite that must stay green across every seam cutover, old position and new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03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Reference Monolith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Six bounded contexts, one shared schema, and planted coupling smells.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MONOLITH · ARCHITECTURE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Django project, six apps, one shared schema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django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examples/00-monolith/config/settings.py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shared-schema Django settings that every extraction unwinds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shared-schema Django settings that every extraction unwinds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MONOLITH · SMELLS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Each smell maps to the pattern that removes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shared tables, chatty calls, and mixed responsibilities — the coupling smells that mark a seam.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table mapping each smell to the pattern that cures it, cross-referenced by concept to sections 05-08.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04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Finding the Seams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Event storming, bounded contexts, and the coupling ladder.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FINDING THE SEAMS · EVENT STORMING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Lay out the events, then cluster by aggregate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event storming maps the domain before any code moves.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clusters are the bounded contexts: order, inventory, payment, shipping, notification, review.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FINDING THE SEAMS · BOUNDED CONTEXTS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real seam has a clean boundary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data crossing a real seam is data the domain already exchanged — the ACL has almost nothing to translate.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service count follows the domain; stop when you run out of real seams.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05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Strangler Fig in Practice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A proxy in front, an ACL at the seam, events to notify.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STRANGLER FIG · THE FOUR MOVES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Observe, seam, divert, retire</a:t>
            </a:r>
            <a:endParaRPr lang="en-US" sz="3000" dirty="0"/>
          </a:p>
        </p:txBody>
      </p:sp>
      <p:pic>
        <p:nvPicPr>
          <p:cNvPr id="6" name="Image 1" descr="./png/strangler-four-mov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four moves, mapped to the real cutover sequence.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STRANGLER FIG · PROXY ROUTING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edge router chooses old or new by flag</a:t>
            </a:r>
            <a:endParaRPr lang="en-US" sz="3000" dirty="0"/>
          </a:p>
        </p:txBody>
      </p:sp>
      <p:pic>
        <p:nvPicPr>
          <p:cNvPr id="6" name="Image 1" descr="./png/strangler-proxy-rout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FastAPI edge proxy and the reversible cutover flag.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19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STRANGLER FIG · THE ACL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 anti-corruption layer keeps the new service honest</a:t>
            </a:r>
            <a:endParaRPr lang="en-US" sz="3000" dirty="0"/>
          </a:p>
        </p:txBody>
      </p:sp>
      <p:pic>
        <p:nvPicPr>
          <p:cNvPr id="6" name="Image 1" descr="./png/acl-contract-se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ACL translates at the boundary so the new service never leaks the old schema.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STRANGLER FIG · EVENT-DRIVEN NOTIFICATION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first extraction reacts to an event, not a call</a:t>
            </a:r>
            <a:endParaRPr lang="en-US" sz="3000" dirty="0"/>
          </a:p>
        </p:txBody>
      </p:sp>
      <p:pic>
        <p:nvPicPr>
          <p:cNvPr id="6" name="Image 1" descr="./png/event-driven-notification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notification service as the first, lowest-risk extraction.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06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Across the Seam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From a shared schema to owned data — without losing an event.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· OWNED, NOT SHARED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Database-per-service is the goal</a:t>
            </a:r>
            <a:endParaRPr lang="en-US" sz="3000" dirty="0"/>
          </a:p>
        </p:txBody>
      </p:sp>
      <p:pic>
        <p:nvPicPr>
          <p:cNvPr id="6" name="Image 1" descr="./png/shared-data-vs-owned-dat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lead-new-thing-left: each service's own Postgres schema versus the monolith's shared tables.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· THE OUTBOX WRITE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Write the business row and the event row in one transaction</a:t>
            </a:r>
            <a:endParaRPr lang="en-US" sz="3000" dirty="0"/>
          </a:p>
        </p:txBody>
      </p:sp>
      <p:pic>
        <p:nvPicPr>
          <p:cNvPr id="6" name="Image 1" descr="./png/outbox-write-in-transac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transactional outbox solves the dual-write problem.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· THE OUTBOX RELAY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Relay the outbox row; the consumer dedupes idempotently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examples/07-order-service/app/relay.py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relay loop that publishes outbox rows at least once, safely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relay loop that publishes outbox rows at least once, safely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· CDC AS A BRIDGE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Change data capture backfills, then gets torn down</a:t>
            </a:r>
            <a:endParaRPr lang="en-US" sz="3000" dirty="0"/>
          </a:p>
        </p:txBody>
      </p:sp>
      <p:pic>
        <p:nvPicPr>
          <p:cNvPr id="6" name="Image 1" descr="./png/cdc-backfill-then-reti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CDC is a bridge during cutover, never a permanent dependency.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· CQRS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Split the write model from the read model where shapes diverge</a:t>
            </a:r>
            <a:endParaRPr lang="en-US" sz="3000" dirty="0"/>
          </a:p>
        </p:txBody>
      </p:sp>
      <p:pic>
        <p:nvPicPr>
          <p:cNvPr id="6" name="Image 1" descr="./png/order-cqrs-write-read-spl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order service's write side and its read-optimized projection.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DATA · ACID BECOMES ACD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Across services, eventual consistency with compensation</a:t>
            </a:r>
            <a:endParaRPr lang="en-US" sz="3000" dirty="0"/>
          </a:p>
        </p:txBody>
      </p:sp>
      <p:pic>
        <p:nvPicPr>
          <p:cNvPr id="6" name="Image 1" descr="./png/acid-to-acd-bounda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single-transaction boundary gives way to compensation at the seam.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07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Coordinating Across Services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Sagas — two styles, same checkout — and failure as a first-class concern.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29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COORDINATING · TWO STYLES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Choreography and orchestration, same checkout</a:t>
            </a:r>
            <a:endParaRPr lang="en-US" sz="3000" dirty="0"/>
          </a:p>
        </p:txBody>
      </p:sp>
      <p:pic>
        <p:nvPicPr>
          <p:cNvPr id="6" name="Image 1" descr="./png/choreography-vs-orchestration-contras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no conductor versus one conductor; this project used both, on the same checkout.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COORDINATING · THE CHOREOGRAPHED SAGA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Payment reacts to the order-placed event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aiokafka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examples/05-payment-service/app/consumer.py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payment service's choreographed reaction to the checkout event stream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payment service's choreographed reaction to the checkout event stream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COORDINATING · THE ORCHESTRATED SAGA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Shipping conducts its own steps and compensations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fastapi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examples/06-shipping-service/app/orchestrator.py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shipping service's orchestrator, sequencing steps and their compensations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shipping service's orchestrator, sequencing steps and their compensations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COORDINATING · IDEMPOTENT CONSUMERS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redelivered event must not double-apply</a:t>
            </a:r>
            <a:endParaRPr lang="en-US" sz="3000" dirty="0"/>
          </a:p>
        </p:txBody>
      </p:sp>
      <p:pic>
        <p:nvPicPr>
          <p:cNvPr id="6" name="Image 1" descr="./png/idempotent-consumer-dedup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dedupe key that makes at-least-once delivery safe to consume.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COORDINATING · COMPENSATION, NOT ROLLBACK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Undo a committed step with a compensating action</a:t>
            </a:r>
            <a:endParaRPr lang="en-US" sz="3000" dirty="0"/>
          </a:p>
        </p:txBody>
      </p:sp>
      <p:pic>
        <p:nvPicPr>
          <p:cNvPr id="6" name="Image 1" descr="./png/idempotent-compensation-two-lay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compensation at two layers: the business action and the idempotency guard around it.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08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Communication, Contracts &amp; the Chassis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REST, gRPC, GraphQL — and the registry that keeps them compatible.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COMMUNICATION · PROTOCOL FIT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Pick the protocol by the shape of the call</a:t>
            </a:r>
            <a:endParaRPr lang="en-US" sz="3000" dirty="0"/>
          </a:p>
        </p:txBody>
      </p:sp>
      <p:pic>
        <p:nvPicPr>
          <p:cNvPr id="6" name="Image 1" descr="./png/rest-grpc-graphql-protocol-fi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REST for the edge, gRPC between services, GraphQL for the aggregate view.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CONTRACTS · THE gRPC CONTRACT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Inventory's contract is a .proto file, not a shared model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protobuf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examples/04-inventory-service/proto/dev/patterncatalyst/inventory/v1/inventory.proto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inventory service's protobuf contract, the seam's anti-corruption boundary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inventory service's protobuf contract, the seam's anti-corruption boundary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CONTRACTS · THE GRAPHQL GATEWAY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query, five sources, fanned out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python · strawberry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examples/08-graphql-gateway/app/schema.py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GraphQL gateway schema that fans a single query out across services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GraphQL gateway schema that fans a single query out across services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CONTRACTS · THE SCHEMA REGISTRY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Avro, wrapped in a registry-aware envelope</a:t>
            </a:r>
            <a:endParaRPr lang="en-US" sz="3000" dirty="0"/>
          </a:p>
        </p:txBody>
      </p:sp>
      <p:pic>
        <p:nvPicPr>
          <p:cNvPr id="6" name="Image 1" descr="./png/avro-wire-envelope-registry-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hand-duplicated schemas versus one registry everyone resolves against.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39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CHASSIS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Config, health, logging, and tracing — as a convention</a:t>
            </a:r>
            <a:endParaRPr lang="en-US" sz="3000" dirty="0"/>
          </a:p>
        </p:txBody>
      </p:sp>
      <p:pic>
        <p:nvPicPr>
          <p:cNvPr id="6" name="Image 1" descr="./png/fastapi-chassis-anatom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FastAPI chassis every service opts into, not a shared framework to maintain.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09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Operating &amp; Delivering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Deploy, mesh, observe, and gate the supply chain.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OPERATING · DEPLOY TOPOLOGY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Six services, one Kubernetes namespace</a:t>
            </a:r>
            <a:endParaRPr lang="en-US" sz="3000" dirty="0"/>
          </a:p>
        </p:txBody>
      </p:sp>
      <p:pic>
        <p:nvPicPr>
          <p:cNvPr id="6" name="Image 1" descr="./png/deploy-k8s-namespace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deployment topology each extracted service lands in.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OPERATING · THE MESH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mTLS and traffic identity, from the platform</a:t>
            </a:r>
            <a:endParaRPr lang="en-US" sz="3000" dirty="0"/>
          </a:p>
        </p:txBody>
      </p:sp>
      <p:pic>
        <p:nvPicPr>
          <p:cNvPr id="6" name="Image 1" descr="./png/mesh-mtls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mesh answers the identity and traffic questions the chassis used to own.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OPERATING · THE TRACE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request, traced end to end across services</a:t>
            </a:r>
            <a:endParaRPr lang="en-US" sz="3000" dirty="0"/>
          </a:p>
        </p:txBody>
      </p:sp>
      <p:pic>
        <p:nvPicPr>
          <p:cNvPr id="6" name="Image 1" descr="./png/mesh-hero-trace-waterf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hero trace that proves the migration did not lose observability.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DELIVERING · THE SUPPLY-CHAIN GATE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7223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SBOM, scan, and a policy threshold that fails the build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7882128" y="969264"/>
            <a:ext cx="3739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5A5A5A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bash · syft · grype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1055096" cy="4251960"/>
          </a:xfrm>
          <a:prstGeom prst="rect">
            <a:avLst/>
          </a:prstGeom>
          <a:solidFill>
            <a:srgbClr val="151515"/>
          </a:solidFill>
          <a:ln w="12700">
            <a:solidFill>
              <a:srgbClr val="15151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783080"/>
            <a:ext cx="10689336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TODO W2 — draw the real body from examples/10-supply-chain/demo.sh + policy.yaml
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8FB98F"/>
                </a:solidFill>
                <a:latin typeface="Red Hat Mono" pitchFamily="34" charset="0"/>
                <a:ea typeface="Red Hat Mono" pitchFamily="34" charset="-122"/>
                <a:cs typeface="Red Hat Mono" pitchFamily="34" charset="-120"/>
              </a:rPr>
              <a:t># the three-step supply-chain gate: generate the SBOM, scan it, apply the policy
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three-step supply-chain gate: generate the SBOM, scan it, apply the policy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OPERATING · THE RESULT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monolith, six services, no shared schema</a:t>
            </a:r>
            <a:endParaRPr lang="en-US" sz="3000" dirty="0"/>
          </a:p>
        </p:txBody>
      </p:sp>
      <p:pic>
        <p:nvPicPr>
          <p:cNvPr id="6" name="Image 1" descr="./png/final-monolith-free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the end-state topology after the sixth and hardest extraction.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Pattern Language, Revisited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Which patterns we used — and where to stop.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PATTERN LANGUAGE MAP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Where each pattern lives in the catalog</a:t>
            </a:r>
            <a:endParaRPr lang="en-US" sz="3000" dirty="0"/>
          </a:p>
        </p:txBody>
      </p:sp>
      <p:pic>
        <p:nvPicPr>
          <p:cNvPr id="6" name="Image 1" descr="./png/pattern-language-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cross-referenced by concept to sections 05-09 above.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PATTERN SCORECARD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Used because it cured a pain we had; deferred is a verdict too</a:t>
            </a:r>
            <a:endParaRPr lang="en-US" sz="3000" dirty="0"/>
          </a:p>
        </p:txBody>
      </p:sp>
      <p:pic>
        <p:nvPicPr>
          <p:cNvPr id="6" name="Image 1" descr="./png/book-pattern-scorec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strangler fig, database-per-service, the outbox, both saga styles: used. Full event sourcing, the rewrite: deferred.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49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WHERE TO STOP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Over-decomposition is the seductive failure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tell is a coordinated release; stop at context-aligned services, split further only when a real seam demands it.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named next horizons (GitOps, durable sagas, remaining observability) are each a bounded increment, not a rewrite.</a:t>
            </a:r>
            <a:endParaRPr lang="en-US" sz="1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201 · CLOSE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patterns, end to end — now go deeper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main body covered the full pattern arc at just-enough-code depth.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for the async/FastAPI code deep dive, see the 201-FastAPI; for the OpenShift/CRC parity material and the extended figure set, keep this appendix open in another window.</a:t>
            </a:r>
            <a:endParaRPr lang="en-US" sz="17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APP-A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A — OpenShift/CRC Parity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Keep this open in another window.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OPENSHIFT TOPOLOGY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same six services, on OpenShift Local</a:t>
            </a:r>
            <a:endParaRPr lang="en-US" sz="3000" dirty="0"/>
          </a:p>
        </p:txBody>
      </p:sp>
      <p:pic>
        <p:nvPicPr>
          <p:cNvPr id="6" name="Image 1" descr="./png/openshift-crc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namespace and project layout on CRC.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IMAGE DELIVERY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In-cluster builds, no external registry required</a:t>
            </a:r>
            <a:endParaRPr lang="en-US" sz="3000" dirty="0"/>
          </a:p>
        </p:txBody>
      </p:sp>
      <p:pic>
        <p:nvPicPr>
          <p:cNvPr id="6" name="Image 1" descr="./png/openshift-image-delive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S2I / binary build delivering each service's image on-cluster.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MESH mTLS AT THE EDGE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STRICT mTLS and a Route at the edge</a:t>
            </a:r>
            <a:endParaRPr lang="en-US" sz="3000" dirty="0"/>
          </a:p>
        </p:txBody>
      </p:sp>
      <p:pic>
        <p:nvPicPr>
          <p:cNvPr id="6" name="Image 1" descr="./png/openshift-mesh-mtls-e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 — OpenShift Service Mesh parity with the minikube/Istio mesh in section 09.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APP-B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B — Extended Pattern Variants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deeper per-pattern figures that didn't fit the main 50.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SAGA CRASH-RESUME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saga's state machine survives a crash</a:t>
            </a:r>
            <a:endParaRPr lang="en-US" sz="3000" dirty="0"/>
          </a:p>
        </p:txBody>
      </p:sp>
      <p:pic>
        <p:nvPicPr>
          <p:cNvPr id="6" name="Image 1" descr="./png/saga-state-machine-crash-resu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CHASSIS SCORECARD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Which chassis capabilities each service adopted</a:t>
            </a:r>
            <a:endParaRPr lang="en-US" sz="3000" dirty="0"/>
          </a:p>
        </p:txBody>
      </p:sp>
      <p:pic>
        <p:nvPicPr>
          <p:cNvPr id="6" name="Image 1" descr="./png/chassis-scorec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SHIPPING RESILIENCE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Retries, timeouts, and the circuit breaker in the shipping chassis</a:t>
            </a:r>
            <a:endParaRPr lang="en-US" sz="3000" dirty="0"/>
          </a:p>
        </p:txBody>
      </p:sp>
      <p:pic>
        <p:nvPicPr>
          <p:cNvPr id="6" name="Image 1" descr="./png/shipping-resilience-chassi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59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SCHEMA EVOLUTION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compatible Avro schema change, end to end</a:t>
            </a:r>
            <a:endParaRPr lang="en-US" sz="3000" dirty="0"/>
          </a:p>
        </p:txBody>
      </p:sp>
      <p:pic>
        <p:nvPicPr>
          <p:cNvPr id="6" name="Image 1" descr="./png/avro-compatibility-evol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SYNC-TO-ASYNC CONTRACT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checkout call crosses from sync REST to an async event</a:t>
            </a:r>
            <a:endParaRPr lang="en-US" sz="3000" dirty="0"/>
          </a:p>
        </p:txBody>
      </p:sp>
      <p:pic>
        <p:nvPicPr>
          <p:cNvPr id="6" name="Image 1" descr="./png/checkout-sync-to-async-contrac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BEFORE THE REGISTRY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Hand-duplicated schemas were the starting smell</a:t>
            </a:r>
            <a:endParaRPr lang="en-US" sz="3000" dirty="0"/>
          </a:p>
        </p:txBody>
      </p:sp>
      <p:pic>
        <p:nvPicPr>
          <p:cNvPr id="6" name="Image 1" descr="./png/hand-duplicated-vs-registry-schem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gRPC CONTRACT, VISUALLY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Inventory's protobuf ACL, as a diagram</a:t>
            </a:r>
            <a:endParaRPr lang="en-US" sz="3000" dirty="0"/>
          </a:p>
        </p:txBody>
      </p:sp>
      <p:pic>
        <p:nvPicPr>
          <p:cNvPr id="6" name="Image 1" descr="./png/inventory-grpc-proto-ac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GRAPHQL FAN-OUT, VISUALLY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One query, five sources, as a diagram</a:t>
            </a:r>
            <a:endParaRPr lang="en-US" sz="3000" dirty="0"/>
          </a:p>
        </p:txBody>
      </p:sp>
      <p:pic>
        <p:nvPicPr>
          <p:cNvPr id="6" name="Image 1" descr="./png/graphql-gateway-five-source-fanou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MULTI-OUTBOX SAGA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saga that spans more than one service's outbox</a:t>
            </a:r>
            <a:endParaRPr lang="en-US" sz="3000" dirty="0"/>
          </a:p>
        </p:txBody>
      </p:sp>
      <p:pic>
        <p:nvPicPr>
          <p:cNvPr id="6" name="Image 1" descr="./png/multi-outbox-saga-topolo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CONTENT-BASED ROUTING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notification service routes by event content</a:t>
            </a:r>
            <a:endParaRPr lang="en-US" sz="3000" dirty="0"/>
          </a:p>
        </p:txBody>
      </p:sp>
      <p:pic>
        <p:nvPicPr>
          <p:cNvPr id="6" name="Image 1" descr="./png/notification-content-based-rout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CHOREOGRAPHED SAGA, VISUALLY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Payment's reaction to checkout, as a sequence diagram</a:t>
            </a:r>
            <a:endParaRPr lang="en-US" sz="3000" dirty="0"/>
          </a:p>
        </p:txBody>
      </p:sp>
      <p:pic>
        <p:nvPicPr>
          <p:cNvPr id="6" name="Image 1" descr="./png/choreographed-payment-saga-sequ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ORCHESTRATED SAGA, VISUALLY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Shipping's orchestration, as a sequence diagram</a:t>
            </a:r>
            <a:endParaRPr lang="en-US" sz="3000" dirty="0"/>
          </a:p>
        </p:txBody>
      </p:sp>
      <p:pic>
        <p:nvPicPr>
          <p:cNvPr id="6" name="Image 1" descr="./png/orchestrated-shipping-saga-seque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68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ORDER-ITEM SNAPSHOT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order-item foreign key becomes an owned snapshot</a:t>
            </a:r>
            <a:endParaRPr lang="en-US" sz="3000" dirty="0"/>
          </a:p>
        </p:txBody>
      </p:sp>
      <p:pic>
        <p:nvPicPr>
          <p:cNvPr id="6" name="Image 1" descr="./png/orderitem-fk-to-snapsho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69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ORDER LIFECYCLE (AWAITING SHIPMENT / REFUND)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order state machine's less-common branches</a:t>
            </a:r>
            <a:endParaRPr lang="en-US" sz="3000" dirty="0"/>
          </a:p>
        </p:txBody>
      </p:sp>
      <p:pic>
        <p:nvPicPr>
          <p:cNvPr id="6" name="Image 1" descr="./png/order-lifecycle-awaiting-shipment-refun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ORDER LIFECYCLE (PENDING TO TERMINAL)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order state machine's main path</a:t>
            </a:r>
            <a:endParaRPr lang="en-US" sz="3000" dirty="0"/>
          </a:p>
        </p:txBody>
      </p:sp>
      <p:pic>
        <p:nvPicPr>
          <p:cNvPr id="6" name="Image 1" descr="./png/order-pending-to-terminal-lifecyc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REBUILDABLE READ MODEL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order view projection can be rebuilt from the log</a:t>
            </a:r>
            <a:endParaRPr lang="en-US" sz="3000" dirty="0"/>
          </a:p>
        </p:txBody>
      </p:sp>
      <p:pic>
        <p:nvPicPr>
          <p:cNvPr id="6" name="Image 1" descr="./png/order-view-rebuildable-projec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OUTBOX RELAY, AT LEAST ONCE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Delivery guarantees the relay actually makes</a:t>
            </a:r>
            <a:endParaRPr lang="en-US" sz="3000" dirty="0"/>
          </a:p>
        </p:txBody>
      </p:sp>
      <p:pic>
        <p:nvPicPr>
          <p:cNvPr id="6" name="Image 1" descr="./png/outbox-relay-at-least-o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73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A LIGHTER RESERVE/RELEASE SAGA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 smaller saga shape for a smaller workflow</a:t>
            </a:r>
            <a:endParaRPr lang="en-US" sz="3000" dirty="0"/>
          </a:p>
        </p:txBody>
      </p:sp>
      <p:pic>
        <p:nvPicPr>
          <p:cNvPr id="6" name="Image 1" descr="./png/reserve-release-saga-l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74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REVIEW, PHASE A VS. PHASE B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review service's two extraction phases</a:t>
            </a:r>
            <a:endParaRPr lang="en-US" sz="3000" dirty="0"/>
          </a:p>
        </p:txBody>
      </p:sp>
      <p:pic>
        <p:nvPicPr>
          <p:cNvPr id="6" name="Image 1" descr="./png/review-phase-a-vs-phase-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75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CUTOVER TIMELINE, VISUALLY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Six seams, in dependency order, as a timeline</a:t>
            </a:r>
            <a:endParaRPr lang="en-US" sz="3000" dirty="0"/>
          </a:p>
        </p:txBody>
      </p:sp>
      <p:pic>
        <p:nvPicPr>
          <p:cNvPr id="6" name="Image 1" descr="./png/strangler-cutover-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76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SUPPLY-CHAIN GATE, VISUALLY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SBOM, scan, gate — as a pipeline diagram</a:t>
            </a:r>
            <a:endParaRPr lang="en-US" sz="3000" dirty="0"/>
          </a:p>
        </p:txBody>
      </p:sp>
      <p:pic>
        <p:nvPicPr>
          <p:cNvPr id="6" name="Image 1" descr="./png/supply-chain-gate-pip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77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TWO CUTOVER DIMENSIONS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Reversibility and blast radius, scored per seam</a:t>
            </a:r>
            <a:endParaRPr lang="en-US" sz="3000" dirty="0"/>
          </a:p>
        </p:txBody>
      </p:sp>
      <p:pic>
        <p:nvPicPr>
          <p:cNvPr id="6" name="Image 1" descr="./png/two-cutover-dimension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45920" y="1600200"/>
            <a:ext cx="8906256" cy="4343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66928" y="5943600"/>
            <a:ext cx="110550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caption.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AB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section-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33288" y="2121408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spc="600" kern="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APP-C</a:t>
            </a:r>
            <a:endParaRPr lang="en-US" sz="2200" dirty="0"/>
          </a:p>
        </p:txBody>
      </p:sp>
      <p:sp>
        <p:nvSpPr>
          <p:cNvPr id="4" name="Text 1"/>
          <p:cNvSpPr/>
          <p:nvPr/>
        </p:nvSpPr>
        <p:spPr>
          <a:xfrm>
            <a:off x="5705856" y="2596896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C — Reference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733288" y="416052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D9D9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The runnable examples, the stack, and the terms used in this deck.</a:t>
            </a:r>
            <a:endParaRPr lang="en-US" sz="1600" dirty="0"/>
          </a:p>
        </p:txBody>
      </p:sp>
      <p:pic>
        <p:nvPicPr>
          <p:cNvPr id="6" name="Image 1" descr="./assets/redhat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2448" y="6291072"/>
            <a:ext cx="12161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79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THE EXAMPLES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Eleven runnable examples, one per seam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examples/00-monolith through examples/10-supply-chain, mapped to the section each one supports.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every code slide in this deck draws from one of these directories; this is the index.</a:t>
            </a:r>
            <a:endParaRPr lang="en-US" sz="17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80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STACK &amp; VERSIONS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FastAPI, SQLAlchemy 2.0, aiokafka, Postgres, Kafka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Python/FastAPI stack versions behind every example, pinned.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the platform stack: Kubernetes, the mesh, the schema registry, the observability pipeline.</a:t>
            </a:r>
            <a:endParaRPr lang="en-US" sz="17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81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APPENDIX · GLOSSARY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Terms used in this deck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strangler fig, seam, ACL, outbox, saga, CQRS, ACD, chassis — one line each.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cross-referenced by concept to the section where each term is introduced.</a:t>
            </a:r>
            <a:endParaRPr lang="en-US" sz="17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36422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82</a:t>
            </a:r>
            <a:endParaRPr lang="en-US" sz="1000" dirty="0"/>
          </a:p>
        </p:txBody>
      </p:sp>
      <p:pic>
        <p:nvPicPr>
          <p:cNvPr id="3" name="Image 0" descr="./assets/logo-candidat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55080"/>
            <a:ext cx="1033272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384048"/>
            <a:ext cx="110550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EE0000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CLOSING · GO DEEPER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676656"/>
            <a:ext cx="11055096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51515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Where to go from here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4434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for the ideas and the advantage case, see the 101; for the async/FastAPI code deep dive, see the 201-FastAPI.</a:t>
            </a:r>
            <a:endParaRPr lang="en-US" sz="1700" dirty="0"/>
          </a:p>
          <a:p>
            <a:pPr algn="l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242424"/>
                </a:solidFill>
                <a:latin typeface="Red Hat Text" pitchFamily="34" charset="0"/>
                <a:ea typeface="Red Hat Text" pitchFamily="34" charset="-122"/>
                <a:cs typeface="Red Hat Text" pitchFamily="34" charset="-120"/>
              </a:rPr>
              <a:t>TODO W2 — every pattern in this deck is grounded in a runnable example in the repository.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82</Slides>
  <Notes>82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</vt:vector>
  </TitlesOfParts>
  <Company>Red Hat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Modernizing Enterprise Applications (Python) — 201 (the patterns)</dc:title>
  <dc:subject>PptxGenJS Presentation</dc:subject>
  <dc:creator>Robert Sedor</dc:creator>
  <cp:lastModifiedBy>Robert Sedor</cp:lastModifiedBy>
  <cp:revision>1</cp:revision>
  <dcterms:created xsi:type="dcterms:W3CDTF">2026-10-17T14:41:36Z</dcterms:created>
  <dcterms:modified xsi:type="dcterms:W3CDTF">2026-10-17T14:41:36Z</dcterms:modified>
</cp:coreProperties>
</file>