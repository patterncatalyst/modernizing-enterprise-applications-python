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201-FastAPI deep dive, for Python engineers who build the services. It is the code-deepest of the three decks: the async foundation, Pydantic v2 at the edges, messaging the async way, the chassis as convention plus OTel, and a together section that traces one request's full async path. Code slides come from real examples/ source. STUB: expand this script in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Agenda mirrors the five-section arc plus the packaging/testing appendix;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divider. Opens the async-foundation section: async SQLAlchemy 2.0/asyncpg sessions, the unit-of-work pattern, migrations as a contract, and writing the outbox record in the same transaction as the business change. Expand with the full section arc in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Shows the real async-session setup;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Shows the unit-of-work implementation;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Shows a real Alembic migration as a contract artifact;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This slide introduces the outbox-write-in-transaction pattern with real code from examples/; fill in during the content-authoring wave sourced from the authored chapters (_docs/14-33).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Closes the foundation section on the relay's delivery guarantee;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divider. Opens the Pydantic v2 section: typed settings, request/response models, ACL translation at the boundary, and the GraphQL and sync-to-async edges. Expand with the full section arc in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Shows the real Pydantic v2 settings model;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Shows the real Pydantic v2 schema models;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Introduces ACL translation as a Pydantic v2 idiom;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Shows the real Strawberry GraphQL schema;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Pairs with the Strawberry schema code slide;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Closes the Pydantic section on the sync/async edge;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divider. Opens the messaging section: aiokafka producer/consumer, the outbox relay running as an asyncio task, idempotent dedupe, grpc.aio, and the Avro/registry envelope. Expand with the full section arc in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Shows the real aiokafka producer;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Shows the real aiokafka consumer;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Shows the real asyncio-task relay; this is the async mechanic the 201 only gestures at.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Introduces the async idempotent-consumer mechanics;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Closes the saga-messaging thread;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Introduces the gRPC contract before the server-side code slide;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Shows the real grpc.aio server;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Closes the messaging section on the registry envelope;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divider. Opens the chassis section: config/logging/health/errors as a repeated FastAPI convention, DI wiring, and OTel zero-code plus manual spans. Expand with the full section arc in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Shows the real config module as the chassis-as-convention example;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Shows the real errors module;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Introduces the chassis anatomy diagram;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Shows the resilience-chassis topology;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Introduces OTel instrumentation strategy;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Closes the chassis section with the adoption scorecard;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divider. Traces one request through the orchestrated saga, the choreographed path, CQRS, and crash-resume, all stitched together. Expand with the full section arc in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Traces the orchestrated saga's full async path;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Traces the choreographed saga's full async path;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Traces the async CQRS path;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Traces the crash-resume path, tying the foundation section back together;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Closes the Together section with the simplest async path;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appendix divider. Packaging and testing conventions that apply uniformly across every service in this deck. Expand in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Shows the real packaging convention;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Shows the real pytest + Testcontainers integration test;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Closes the appendix with the REST-contract testing convention;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Closing summary and hand-off back to the 201 and the 101;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cover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0" y="1810512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MODERNIZING ENTERPRISE APPLICATIONS (PYTHON) · 201-FASTAPI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40680" y="2212848"/>
            <a:ext cx="63550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async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deep dive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5486400" y="4160520"/>
            <a:ext cx="62179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The async stack underneath the patterns: SQLAlchemy 2.0/asyncpg, Pydantic v2, aiokafka and the outbox relay, grpc.aio, the chassis as convention, and OTel.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835640" y="534924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r1.0</a:t>
            </a:r>
            <a:endParaRPr lang="en-US" sz="1100" dirty="0"/>
          </a:p>
        </p:txBody>
      </p:sp>
      <p:pic>
        <p:nvPicPr>
          <p:cNvPr id="7" name="Image 1" descr="./assets/logo-candidat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6217920"/>
            <a:ext cx="1417320" cy="3383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2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201-FASTAPI · THE ASYNC DEEP DIVE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stack underneath every pattern in the 201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548640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the async foundation: SQLAlchemy 2.0, asyncpg, the outbox write</a:t>
            </a:r>
            <a:endParaRPr lang="en-US" sz="17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Pydantic v2 at the edges: models, settings, ACL translation</a:t>
            </a:r>
            <a:endParaRPr lang="en-US" sz="17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messaging the async way: aiokafka, the relay, grpc.aio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6419088" y="1691640"/>
            <a:ext cx="548640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the chassis as convention, plus OTel</a:t>
            </a:r>
            <a:endParaRPr lang="en-US" sz="17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together: one request's full async path</a:t>
            </a:r>
            <a:endParaRPr lang="en-US" sz="17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appendix: packaging and testing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Async Foundation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SQLAlchemy 2.0, asyncpg, the unit of work, and the outbox write.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4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ASYNC FOUNDATION · THE ASYNC SESSION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7223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An async engine and session factory, once per service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882128" y="969264"/>
            <a:ext cx="3739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python · sqlalchemy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1055096" cy="42519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783080"/>
            <a:ext cx="10689336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TODO W2 — draw the real body from examples/07-order-service/app/db.py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the async SQLAlchemy 2.0 engine/session wiring every service repeats as a convention
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async SQLAlchemy 2.0 engine/session wiring every service repeats as a convention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5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ASYNC FOUNDATION · THE UNIT OF WORK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7223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repository commits the business row and the outbox row together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882128" y="969264"/>
            <a:ext cx="3739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python · sqlalchemy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1055096" cy="42519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783080"/>
            <a:ext cx="10689336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TODO W2 — draw the real body from examples/07-order-service/app/repository.py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the repository/unit-of-work pattern wrapping the async session
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repository/unit-of-work pattern wrapping the async session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6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ASYNC FOUNDATION · MIGRATIONS AS A CONTRACT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7223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Alembic owns the schema, service by service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882128" y="969264"/>
            <a:ext cx="3739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python · alembic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1055096" cy="42519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783080"/>
            <a:ext cx="10689336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TODO W2 — draw the real body from examples/07-order-service/migrations/versions/0001_create_order_schema.py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the Alembic migration that is the order service's schema contract
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Alembic migration that is the order service's schema contract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7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ASYNC FOUNDATION · THE OUTBOX WRITE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Write the outbox row in the same transaction</a:t>
            </a:r>
            <a:endParaRPr lang="en-US" sz="3000" dirty="0"/>
          </a:p>
        </p:txBody>
      </p:sp>
      <p:pic>
        <p:nvPicPr>
          <p:cNvPr id="6" name="Image 1" descr="./png/outbox-write-in-transacti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an async SQLAlchemy 2.0 session commits the business row and the outbox row together, or neither.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8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ASYNC FOUNDATION · THE RELAY, AT LEAST ONCE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relay is what makes a crash survivable</a:t>
            </a:r>
            <a:endParaRPr lang="en-US" sz="3000" dirty="0"/>
          </a:p>
        </p:txBody>
      </p:sp>
      <p:pic>
        <p:nvPicPr>
          <p:cNvPr id="6" name="Image 1" descr="./png/outbox-relay-at-least-onc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relay loop publishes at least once; the consumer side (section C) dedupes.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B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Pydantic v2 at the Edges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Models, settings, validation, and the ACL translation.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10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PYDANTIC V2 · SETTINGS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7223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Typed, validated settings via BaseSettings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882128" y="969264"/>
            <a:ext cx="3739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python · pydantic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1055096" cy="42519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783080"/>
            <a:ext cx="10689336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TODO W2 — draw the real body from examples/07-order-service/app/config.py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the service's typed settings model, loaded once at startup
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service's typed settings model, loaded once at startup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11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PYDANTIC V2 · REQUEST/RESPONSE MODELS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7223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Validation at the edge, not scattered through the service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882128" y="969264"/>
            <a:ext cx="3739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python · pydantic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1055096" cy="42519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783080"/>
            <a:ext cx="10689336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TODO W2 — draw the real body from examples/07-order-service/app/schemas.py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the request/response schema models FastAPI validates against automatically
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request/response schema models FastAPI validates against automatically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12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PYDANTIC V2 · ACL TRANSLATION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Translate at the boundary, not throughout the service</a:t>
            </a:r>
            <a:endParaRPr lang="en-US" sz="3000" dirty="0"/>
          </a:p>
        </p:txBody>
      </p:sp>
      <p:pic>
        <p:nvPicPr>
          <p:cNvPr id="6" name="Image 1" descr="./png/acl-contract-seam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anti-corruption layer as a thin Pydantic translation, not a scattered one.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13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PYDANTIC V2 · THE GRAPHQL EDGE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7223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Strawberry types are the edge's own validated shape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882128" y="969264"/>
            <a:ext cx="3739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python · strawberry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1055096" cy="42519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783080"/>
            <a:ext cx="10689336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TODO W2 — draw the real body from examples/08-graphql-gateway/app/schema.py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the GraphQL gateway's typed schema, the edge's own Pydantic-adjacent contract
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GraphQL gateway's typed schema, the edge's own Pydantic-adjacent contract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14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PYDANTIC V2 · THE GRAPHQL FAN-OUT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One validated query, five sources underneath</a:t>
            </a:r>
            <a:endParaRPr lang="en-US" sz="3000" dirty="0"/>
          </a:p>
        </p:txBody>
      </p:sp>
      <p:pic>
        <p:nvPicPr>
          <p:cNvPr id="6" name="Image 1" descr="./png/graphql-gateway-five-source-fanou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gateway's single typed query fans out to five backing services.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15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PYDANTIC V2 · SYNC TO ASYNC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checkout call crosses from a sync request to an async event</a:t>
            </a:r>
            <a:endParaRPr lang="en-US" sz="3000" dirty="0"/>
          </a:p>
        </p:txBody>
      </p:sp>
      <p:pic>
        <p:nvPicPr>
          <p:cNvPr id="6" name="Image 1" descr="./png/checkout-sync-to-async-contrac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Pydantic model that is the contract on both sides of that crossing.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C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Messaging the Async Way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aiokafka, the relay as an asyncio task, grpc.aio, and the registry envelope.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17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MESSAGING · THE AIOKAFKA PRODUCER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7223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An async producer publishes the registry-aware envelope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882128" y="969264"/>
            <a:ext cx="3739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python · aiokafka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1055096" cy="42519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783080"/>
            <a:ext cx="10689336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TODO W2 — draw the real body from examples/09-schema-registry-demo/app/producer.py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the async Kafka producer wrapping the Avro/registry envelope
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async Kafka producer wrapping the Avro/registry envelope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18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MESSAGING · THE AIOKAFKA CONSUMER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7223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An async consumer reacts to the choreographed event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882128" y="969264"/>
            <a:ext cx="3739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python · aiokafka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1055096" cy="42519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783080"/>
            <a:ext cx="10689336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TODO W2 — draw the real body from examples/05-payment-service/app/consumer.py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the async Kafka consumer driving the payment service's choreographed reaction
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async Kafka consumer driving the payment service's choreographed reaction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19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MESSAGING · THE RELAY AS AN ASYNCIO TASK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7223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outbox relay runs as a background asyncio task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882128" y="969264"/>
            <a:ext cx="3739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python · asyncio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1055096" cy="42519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783080"/>
            <a:ext cx="10689336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TODO W2 — draw the real body from examples/06-shipping-service/app/relay.py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the relay implemented as an asyncio background task alongside the FastAPI app
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relay implemented as an asyncio background task alongside the FastAPI app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20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MESSAGING · IDEMPOTENT DEDUPE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 redelivered message must not double-apply</a:t>
            </a:r>
            <a:endParaRPr lang="en-US" sz="3000" dirty="0"/>
          </a:p>
        </p:txBody>
      </p:sp>
      <p:pic>
        <p:nvPicPr>
          <p:cNvPr id="6" name="Image 1" descr="./png/idempotent-consumer-dedup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dedupe key and the async transaction that makes the check-and-apply atomic.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21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MESSAGING · COMPENSATION AS A CONSUMER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 compensating action is just another async consumer</a:t>
            </a:r>
            <a:endParaRPr lang="en-US" sz="3000" dirty="0"/>
          </a:p>
        </p:txBody>
      </p:sp>
      <p:pic>
        <p:nvPicPr>
          <p:cNvPr id="6" name="Image 1" descr="./png/idempotent-compensation-two-layer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compensation handler, idempotent at two layers, implemented as an async consumer.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22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MESSAGING · THE gRPC.AIO CONTRACT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Inventory's protobuf contract, seen from the async client</a:t>
            </a:r>
            <a:endParaRPr lang="en-US" sz="3000" dirty="0"/>
          </a:p>
        </p:txBody>
      </p:sp>
      <p:pic>
        <p:nvPicPr>
          <p:cNvPr id="6" name="Image 1" descr="./png/inventory-grpc-proto-ac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.proto contract that grpc.aio generates an async stub from.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23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MESSAGING · THE gRPC.AIO SERVER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7223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An async gRPC server behind the same FastAPI chassis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882128" y="969264"/>
            <a:ext cx="3739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python · grpc.aio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1055096" cy="42519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783080"/>
            <a:ext cx="10689336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TODO W2 — draw the real body from examples/04-inventory-service/app/grpc_server.py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the async gRPC server implementation, running the service's grpc.aio ACL
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async gRPC server implementation, running the service's grpc.aio ACL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24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MESSAGING · THE REGISTRY ENVELOPE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Avro, wrapped for safe schema evolution</a:t>
            </a:r>
            <a:endParaRPr lang="en-US" sz="3000" dirty="0"/>
          </a:p>
        </p:txBody>
      </p:sp>
      <p:pic>
        <p:nvPicPr>
          <p:cNvPr id="6" name="Image 1" descr="./png/avro-wire-envelope-registry-flo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wire envelope every async producer and consumer agrees on.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D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Chassis as Convention, plus OTel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Config, logging, health, and errors as convention; OTel as the trace.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26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CHASSIS · CONFIG, LOGGING, HEALTH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7223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same shape, repeated as a convention across services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882128" y="969264"/>
            <a:ext cx="3739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python · fastapi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1055096" cy="42519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783080"/>
            <a:ext cx="10689336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TODO W2 — draw the real body from examples/06-shipping-service/app/config.py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the config/logging/health convention every service repeats, not a shared library
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config/logging/health convention every service repeats, not a shared library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27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CHASSIS · ERRORS &amp; RESILIENCE AS CONVENTION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7223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 typed error hierarchy, mapped to HTTP status once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882128" y="969264"/>
            <a:ext cx="3739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python · fastapi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1055096" cy="42519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783080"/>
            <a:ext cx="10689336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TODO W2 — draw the real body from examples/04-inventory-service/app/errors.py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the typed error hierarchy and the exception handler that maps it to HTTP once
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typed error hierarchy and the exception handler that maps it to HTTP once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28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CHASSIS · ANATOMY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DI wiring and the shape every service shares</a:t>
            </a:r>
            <a:endParaRPr lang="en-US" sz="3000" dirty="0"/>
          </a:p>
        </p:txBody>
      </p:sp>
      <p:pic>
        <p:nvPicPr>
          <p:cNvPr id="6" name="Image 1" descr="./png/fastapi-chassis-anatom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dependency injection, lifespan, and the chassis anatomy common to every service.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29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CHASSIS · RESILIENCE TOPOLOGY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Retries, timeouts, and the circuit breaker, as convention</a:t>
            </a:r>
            <a:endParaRPr lang="en-US" sz="3000" dirty="0"/>
          </a:p>
        </p:txBody>
      </p:sp>
      <p:pic>
        <p:nvPicPr>
          <p:cNvPr id="6" name="Image 1" descr="./png/shipping-resilience-chassi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resilience primitives wired the same way in every service that needs them.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30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CHASSIS · OTEL, ZERO-CODE PLUS MANUAL SPANS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opentelemetry-distro auto-instruments; manual spans fill the gaps</a:t>
            </a:r>
            <a:endParaRPr lang="en-US" sz="3000" dirty="0"/>
          </a:p>
        </p:txBody>
      </p:sp>
      <p:pic>
        <p:nvPicPr>
          <p:cNvPr id="6" name="Image 1" descr="./png/mesh-hero-trace-waterf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hero trace produced by zero-code instrumentation plus a handful of manual spans, into the LGTM stack.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31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CHASSIS · THE SCORECARD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Which chassis capabilities each service actually adopted</a:t>
            </a:r>
            <a:endParaRPr lang="en-US" sz="3000" dirty="0"/>
          </a:p>
        </p:txBody>
      </p:sp>
      <p:pic>
        <p:nvPicPr>
          <p:cNvPr id="6" name="Image 1" descr="./png/chassis-scorecar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config, health, errors, resilience, OTel — scored per service.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E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Together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One request's full async path, start to finish.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33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TOGETHER · THE ORCHESTRATED PATH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Checkout to shipped, one async path at a time</a:t>
            </a:r>
            <a:endParaRPr lang="en-US" sz="3000" dirty="0"/>
          </a:p>
        </p:txBody>
      </p:sp>
      <p:pic>
        <p:nvPicPr>
          <p:cNvPr id="6" name="Image 1" descr="./png/orchestrated-shipping-saga-sequenc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full async call sequence from the orchestrator through its compensations.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34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TOGETHER · THE CHOREOGRAPHED PATH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same checkout, reacting instead of conducting</a:t>
            </a:r>
            <a:endParaRPr lang="en-US" sz="3000" dirty="0"/>
          </a:p>
        </p:txBody>
      </p:sp>
      <p:pic>
        <p:nvPicPr>
          <p:cNvPr id="6" name="Image 1" descr="./png/choreographed-payment-saga-sequenc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same workflow traced through choreography instead of orchestration.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35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TOGETHER · CQRS, ASYNC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write path and the read projection, both async</a:t>
            </a:r>
            <a:endParaRPr lang="en-US" sz="3000" dirty="0"/>
          </a:p>
        </p:txBody>
      </p:sp>
      <p:pic>
        <p:nvPicPr>
          <p:cNvPr id="6" name="Image 1" descr="./png/order-cqrs-write-read-spli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async write path and the async projection rebuild, together.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36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TOGETHER · CRASH-RESUME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Kill the process mid-saga; it resumes from the outbox</a:t>
            </a:r>
            <a:endParaRPr lang="en-US" sz="3000" dirty="0"/>
          </a:p>
        </p:txBody>
      </p:sp>
      <p:pic>
        <p:nvPicPr>
          <p:cNvPr id="6" name="Image 1" descr="./png/saga-state-machine-crash-resum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crash-resume test that proves the async relay and the state machine agree after a restart.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37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TOGETHER · THE EVENT-DRIVEN PATH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Notification reacts to the same event stream</a:t>
            </a:r>
            <a:endParaRPr lang="en-US" sz="3000" dirty="0"/>
          </a:p>
        </p:txBody>
      </p:sp>
      <p:pic>
        <p:nvPicPr>
          <p:cNvPr id="6" name="Image 1" descr="./png/event-driven-notification-topolog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lowest-risk async path, end to end, as the closing example.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F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— Packaging &amp; Testing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uv, UBI10, and the Containerfile; pytest, Testcontainers, and Newman.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39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· PACKAGING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7223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uv-managed dependencies, built on UBI10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882128" y="969264"/>
            <a:ext cx="3739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containerfile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1055096" cy="42519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783080"/>
            <a:ext cx="10689336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TODO W2 — draw the real body from examples/07-order-service/Containerfile + pyproject.toml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the uv-managed pyproject.toml and the UBI10-based Containerfile every service shares as a convention
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uv-managed pyproject.toml and the UBI10-based Containerfile every service shares as a convention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40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· TESTING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7223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pytest + Testcontainers exercise the real async stack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882128" y="969264"/>
            <a:ext cx="3739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python · pytest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1055096" cy="42519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783080"/>
            <a:ext cx="10689336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TODO W2 — draw the real body from examples/06-shipping-service/tests/integration/test_crash_resume.py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the integration test that drives the crash-resume scenario against a real Testcontainers Postgres and Kafka
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integration test that drives the crash-resume scenario against a real Testcontainers Postgres and Kafka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41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· REST CONTRACT CHECKS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Newman exercises the REST edges from outside the process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11055096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a Newman/Postman collection checks the REST contract at the edge, independent of the async internals.</a:t>
            </a:r>
            <a:endParaRPr lang="en-US" sz="17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this is the same behavioural-contract idea as the 201's equivalence gate, scoped to one service's edge.</a:t>
            </a:r>
            <a:endParaRPr lang="en-US" sz="17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42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201-FASTAPI · CLOSE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async stack, end to end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11055096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every pattern in the 201 rests on the async mechanics walked in this deck: SQLAlchemy 2.0, Pydantic v2, aiokafka, grpc.aio, the chassis, and OTel.</a:t>
            </a:r>
            <a:endParaRPr lang="en-US" sz="17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for the pattern set at just-enough-code depth, see the 201; for the ideas and the advantage case, see the 101.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Red Hat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Modernizing Enterprise Applications (Python) — 201-FastAPI (the async deep dive)</dc:title>
  <dc:subject>PptxGenJS Presentation</dc:subject>
  <dc:creator>Robert Sedor</dc:creator>
  <cp:lastModifiedBy>Robert Sedor</cp:lastModifiedBy>
  <cp:revision>1</cp:revision>
  <dcterms:created xsi:type="dcterms:W3CDTF">2026-10-17T14:41:36Z</dcterms:created>
  <dcterms:modified xsi:type="dcterms:W3CDTF">2026-10-17T14:41:36Z</dcterms:modified>
</cp:coreProperties>
</file>